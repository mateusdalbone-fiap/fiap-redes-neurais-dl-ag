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6858000" cx="12192000"/>
  <p:notesSz cx="6858000" cy="9144000"/>
  <p:embeddedFontLst>
    <p:embeddedFont>
      <p:font typeface="Space Mono"/>
      <p:regular r:id="rId23"/>
      <p:bold r:id="rId24"/>
      <p:italic r:id="rId25"/>
      <p:boldItalic r:id="rId26"/>
    </p:embeddedFont>
    <p:embeddedFont>
      <p:font typeface="Plus Jakarta Sans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8693866-41E0-49FD-B241-BA1C05C2DEE3}">
  <a:tblStyle styleId="{38693866-41E0-49FD-B241-BA1C05C2DEE3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SpaceMono-bold.fntdata"/><Relationship Id="rId23" Type="http://schemas.openxmlformats.org/officeDocument/2006/relationships/font" Target="fonts/SpaceMon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SpaceMono-boldItalic.fntdata"/><Relationship Id="rId25" Type="http://schemas.openxmlformats.org/officeDocument/2006/relationships/font" Target="fonts/SpaceMono-italic.fntdata"/><Relationship Id="rId28" Type="http://schemas.openxmlformats.org/officeDocument/2006/relationships/font" Target="fonts/PlusJakartaSans-bold.fntdata"/><Relationship Id="rId27" Type="http://schemas.openxmlformats.org/officeDocument/2006/relationships/font" Target="fonts/PlusJakartaSans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PlusJakartaSans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schemas.openxmlformats.org/officeDocument/2006/relationships/font" Target="fonts/PlusJakartaSans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ha87bc66a7121bab_1_5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ha87bc66a7121bab_1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ha87bc66a7121bab_1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ha87bc66a7121bab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ha87bc66a7121bab_1_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ha87bc66a7121bab_1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ha87bc66a7121bab_1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ha87bc66a7121bab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11.png"/><Relationship Id="rId5" Type="http://schemas.openxmlformats.org/officeDocument/2006/relationships/image" Target="../media/image8.png"/><Relationship Id="rId6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1.png"/><Relationship Id="rId4" Type="http://schemas.openxmlformats.org/officeDocument/2006/relationships/image" Target="../media/image2.png"/><Relationship Id="rId10" Type="http://schemas.openxmlformats.org/officeDocument/2006/relationships/image" Target="../media/image19.png"/><Relationship Id="rId9" Type="http://schemas.openxmlformats.org/officeDocument/2006/relationships/image" Target="../media/image17.png"/><Relationship Id="rId5" Type="http://schemas.openxmlformats.org/officeDocument/2006/relationships/image" Target="../media/image23.png"/><Relationship Id="rId6" Type="http://schemas.openxmlformats.org/officeDocument/2006/relationships/image" Target="../media/image1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1.png"/><Relationship Id="rId4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Relationship Id="rId4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image" Target="../media/image16.png"/><Relationship Id="rId6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609600" y="4622452"/>
            <a:ext cx="109728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609600" y="1797397"/>
            <a:ext cx="571500" cy="314325"/>
          </a:xfrm>
          <a:prstGeom prst="roundRect">
            <a:avLst>
              <a:gd fmla="val 12121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/>
          <p:nvPr/>
        </p:nvSpPr>
        <p:spPr>
          <a:xfrm>
            <a:off x="609600" y="4622452"/>
            <a:ext cx="109728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/>
          <p:nvPr/>
        </p:nvSpPr>
        <p:spPr>
          <a:xfrm>
            <a:off x="609600" y="4903440"/>
            <a:ext cx="114300" cy="114300"/>
          </a:xfrm>
          <a:prstGeom prst="roundRect">
            <a:avLst>
              <a:gd fmla="val 50000" name="adj"/>
            </a:avLst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609600" y="2340322"/>
            <a:ext cx="9101137" cy="1139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Redes Neurais, Deep Learning &amp; Algoritmos Genéticos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609600" y="3669952"/>
            <a:ext cx="69532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Consolidação de conceitos: da modelagem do neurônio artificial às arquiteturas avançadas de IA e otimização bio-inspirada.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723900" y="1854547"/>
            <a:ext cx="4381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FIAP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1295400" y="1854547"/>
            <a:ext cx="3452812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Aula Encerramento &amp; REVISÃO GERAL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876300" y="4860577"/>
            <a:ext cx="1964531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Prof. Mateus Dalbone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/>
          <p:cNvSpPr/>
          <p:nvPr/>
        </p:nvSpPr>
        <p:spPr>
          <a:xfrm>
            <a:off x="609600" y="2671762"/>
            <a:ext cx="2571750" cy="2438400"/>
          </a:xfrm>
          <a:prstGeom prst="roundRect">
            <a:avLst>
              <a:gd fmla="val 4687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/>
          <p:nvPr/>
        </p:nvSpPr>
        <p:spPr>
          <a:xfrm>
            <a:off x="3409950" y="2552700"/>
            <a:ext cx="2571750" cy="2676525"/>
          </a:xfrm>
          <a:prstGeom prst="roundRect">
            <a:avLst>
              <a:gd fmla="val 4444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/>
          <p:nvPr/>
        </p:nvSpPr>
        <p:spPr>
          <a:xfrm>
            <a:off x="6210300" y="2552700"/>
            <a:ext cx="2571750" cy="2676525"/>
          </a:xfrm>
          <a:prstGeom prst="roundRect">
            <a:avLst>
              <a:gd fmla="val 4444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/>
          <p:nvPr/>
        </p:nvSpPr>
        <p:spPr>
          <a:xfrm>
            <a:off x="9010650" y="2771775"/>
            <a:ext cx="2571750" cy="2238375"/>
          </a:xfrm>
          <a:prstGeom prst="roundRect">
            <a:avLst>
              <a:gd fmla="val 5106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01" name="Google Shape;10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3925" y="2986087"/>
            <a:ext cx="19431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24275" y="2867025"/>
            <a:ext cx="19431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24625" y="2867025"/>
            <a:ext cx="19431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324975" y="3086100"/>
            <a:ext cx="19431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09600" y="457200"/>
            <a:ext cx="110680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Roteiro da Aula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609600" y="695325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Grandes Eixos do Conhecimento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923925" y="3443287"/>
            <a:ext cx="2140267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1. Fundamentos &amp; Perceptron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923925" y="3995737"/>
            <a:ext cx="203835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Arquitetura do Neurônio, Funções de Ativação e Aprendizado Supervisionado.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3724275" y="3324225"/>
            <a:ext cx="2140267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2. Redes Multicamadas &amp; Otimização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3724275" y="4114800"/>
            <a:ext cx="203835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MLP, Algoritmo de Backpropagation e Otimizadores como Adam/SGD.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6524625" y="3324225"/>
            <a:ext cx="2140267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3. Deep Learning Espacial e Sequencial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6524625" y="4114800"/>
            <a:ext cx="203835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CNNs para Visão Computacional e RNNs/LSTMs para Sequências Temporais.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9324975" y="3543300"/>
            <a:ext cx="2140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4. </a:t>
            </a:r>
            <a:r>
              <a:rPr b="1" lang="en-US" sz="15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Computação evolutiva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9324975" y="4095750"/>
            <a:ext cx="20383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Otimização Estocástica, Seleção, Crossover e Mutação Genética.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9" name="Google Shape;11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15075" y="2138362"/>
            <a:ext cx="5267325" cy="3429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" y="2711797"/>
            <a:ext cx="5248275" cy="8340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24600" y="2147887"/>
            <a:ext cx="5248275" cy="3409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8200" y="2902297"/>
            <a:ext cx="1564481" cy="4530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466850" y="3879205"/>
            <a:ext cx="148083" cy="1144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238250" y="4212728"/>
            <a:ext cx="186183" cy="1144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285875" y="4508152"/>
            <a:ext cx="85725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266825" y="4841527"/>
            <a:ext cx="5715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5"/>
          <p:cNvSpPr txBox="1"/>
          <p:nvPr/>
        </p:nvSpPr>
        <p:spPr>
          <a:xfrm>
            <a:off x="609600" y="457200"/>
            <a:ext cx="110680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Bloco 01 — Fundamentos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609600" y="695325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 Matemática do Neurônio Artificial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609600" y="3774430"/>
            <a:ext cx="6560343" cy="2192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Entradas ( ):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Atributos e características dos dados.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609600" y="4107953"/>
            <a:ext cx="6560343" cy="2192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Pesos ( ):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Parâmetros treináveis de importância.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609600" y="4441477"/>
            <a:ext cx="656034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Vieses ( ):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Deslocamento do ponto de ativação.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609600" y="4774852"/>
            <a:ext cx="656034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Função 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Introduz não-linearidade no modelo.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6"/>
          <p:cNvSpPr/>
          <p:nvPr/>
        </p:nvSpPr>
        <p:spPr>
          <a:xfrm>
            <a:off x="609600" y="3162300"/>
            <a:ext cx="3505200" cy="1457325"/>
          </a:xfrm>
          <a:prstGeom prst="roundRect">
            <a:avLst>
              <a:gd fmla="val 7843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6"/>
          <p:cNvSpPr/>
          <p:nvPr/>
        </p:nvSpPr>
        <p:spPr>
          <a:xfrm>
            <a:off x="4343400" y="3162300"/>
            <a:ext cx="3505200" cy="1457325"/>
          </a:xfrm>
          <a:prstGeom prst="roundRect">
            <a:avLst>
              <a:gd fmla="val 7843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6"/>
          <p:cNvSpPr/>
          <p:nvPr/>
        </p:nvSpPr>
        <p:spPr>
          <a:xfrm>
            <a:off x="8077200" y="3162300"/>
            <a:ext cx="3505200" cy="1457325"/>
          </a:xfrm>
          <a:prstGeom prst="roundRect">
            <a:avLst>
              <a:gd fmla="val 7843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6"/>
          <p:cNvSpPr/>
          <p:nvPr/>
        </p:nvSpPr>
        <p:spPr>
          <a:xfrm>
            <a:off x="885825" y="4105275"/>
            <a:ext cx="1952625" cy="276225"/>
          </a:xfrm>
          <a:prstGeom prst="roundRect">
            <a:avLst>
              <a:gd fmla="val 13793" name="adj"/>
            </a:avLst>
          </a:prstGeom>
          <a:solidFill>
            <a:srgbClr val="EFF6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6"/>
          <p:cNvSpPr/>
          <p:nvPr/>
        </p:nvSpPr>
        <p:spPr>
          <a:xfrm>
            <a:off x="4619625" y="4105275"/>
            <a:ext cx="2295525" cy="276225"/>
          </a:xfrm>
          <a:prstGeom prst="roundRect">
            <a:avLst>
              <a:gd fmla="val 13793" name="adj"/>
            </a:avLst>
          </a:prstGeom>
          <a:solidFill>
            <a:srgbClr val="EFF6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8353425" y="4105275"/>
            <a:ext cx="2295525" cy="276225"/>
          </a:xfrm>
          <a:prstGeom prst="roundRect">
            <a:avLst>
              <a:gd fmla="val 13793" name="adj"/>
            </a:avLst>
          </a:prstGeom>
          <a:solidFill>
            <a:srgbClr val="EFF6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6"/>
          <p:cNvSpPr txBox="1"/>
          <p:nvPr/>
        </p:nvSpPr>
        <p:spPr>
          <a:xfrm>
            <a:off x="609600" y="457200"/>
            <a:ext cx="110680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Não-Linearidade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609600" y="695325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Principais Funções de Ativação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885825" y="3438525"/>
            <a:ext cx="3875484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Sigmoide / Logística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885825" y="3819525"/>
            <a:ext cx="3690937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Comprime saídas entre 0 e 1.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962025" y="4143375"/>
            <a:ext cx="18954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563EB"/>
                </a:solidFill>
                <a:latin typeface="Space Mono"/>
                <a:ea typeface="Space Mono"/>
                <a:cs typeface="Space Mono"/>
                <a:sym typeface="Space Mono"/>
              </a:rPr>
              <a:t>Probabilidade Binária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4619625" y="3438525"/>
            <a:ext cx="3875484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ReLU (Rectified Linear)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4619625" y="3819525"/>
            <a:ext cx="3690937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Retorna max(0, x). Mapeamento rápido.</a:t>
            </a:r>
            <a:endParaRPr/>
          </a:p>
        </p:txBody>
      </p:sp>
      <p:sp>
        <p:nvSpPr>
          <p:cNvPr id="150" name="Google Shape;150;p16"/>
          <p:cNvSpPr txBox="1"/>
          <p:nvPr/>
        </p:nvSpPr>
        <p:spPr>
          <a:xfrm>
            <a:off x="4695825" y="4143375"/>
            <a:ext cx="22383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563EB"/>
                </a:solidFill>
                <a:latin typeface="Space Mono"/>
                <a:ea typeface="Space Mono"/>
                <a:cs typeface="Space Mono"/>
                <a:sym typeface="Space Mono"/>
              </a:rPr>
              <a:t>Padrão em Camadas Ocultas</a:t>
            </a:r>
            <a:endParaRPr/>
          </a:p>
        </p:txBody>
      </p:sp>
      <p:sp>
        <p:nvSpPr>
          <p:cNvPr id="151" name="Google Shape;151;p16"/>
          <p:cNvSpPr txBox="1"/>
          <p:nvPr/>
        </p:nvSpPr>
        <p:spPr>
          <a:xfrm>
            <a:off x="8353425" y="3438525"/>
            <a:ext cx="38385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Softmax</a:t>
            </a:r>
            <a:endParaRPr/>
          </a:p>
        </p:txBody>
      </p:sp>
      <p:sp>
        <p:nvSpPr>
          <p:cNvPr id="152" name="Google Shape;152;p16"/>
          <p:cNvSpPr txBox="1"/>
          <p:nvPr/>
        </p:nvSpPr>
        <p:spPr>
          <a:xfrm>
            <a:off x="8353425" y="3819525"/>
            <a:ext cx="3690937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Normaliza vetor em distribuições.</a:t>
            </a:r>
            <a:endParaRPr/>
          </a:p>
        </p:txBody>
      </p:sp>
      <p:sp>
        <p:nvSpPr>
          <p:cNvPr id="153" name="Google Shape;153;p16"/>
          <p:cNvSpPr txBox="1"/>
          <p:nvPr/>
        </p:nvSpPr>
        <p:spPr>
          <a:xfrm>
            <a:off x="8429625" y="4143375"/>
            <a:ext cx="22383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563EB"/>
                </a:solidFill>
                <a:latin typeface="Space Mono"/>
                <a:ea typeface="Space Mono"/>
                <a:cs typeface="Space Mono"/>
                <a:sym typeface="Space Mono"/>
              </a:rPr>
              <a:t>Classificação Multiclasse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7"/>
          <p:cNvSpPr/>
          <p:nvPr/>
        </p:nvSpPr>
        <p:spPr>
          <a:xfrm>
            <a:off x="609600" y="3162300"/>
            <a:ext cx="2386012" cy="1495425"/>
          </a:xfrm>
          <a:prstGeom prst="roundRect">
            <a:avLst>
              <a:gd fmla="val 7643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7"/>
          <p:cNvSpPr/>
          <p:nvPr/>
        </p:nvSpPr>
        <p:spPr>
          <a:xfrm>
            <a:off x="3471862" y="3071812"/>
            <a:ext cx="2386012" cy="1676400"/>
          </a:xfrm>
          <a:prstGeom prst="roundRect">
            <a:avLst>
              <a:gd fmla="val 6818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7"/>
          <p:cNvSpPr/>
          <p:nvPr/>
        </p:nvSpPr>
        <p:spPr>
          <a:xfrm>
            <a:off x="6334125" y="3071812"/>
            <a:ext cx="2386012" cy="1676400"/>
          </a:xfrm>
          <a:prstGeom prst="roundRect">
            <a:avLst>
              <a:gd fmla="val 6818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7"/>
          <p:cNvSpPr/>
          <p:nvPr/>
        </p:nvSpPr>
        <p:spPr>
          <a:xfrm>
            <a:off x="9196387" y="3071812"/>
            <a:ext cx="2386012" cy="1676400"/>
          </a:xfrm>
          <a:prstGeom prst="roundRect">
            <a:avLst>
              <a:gd fmla="val 6818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62" name="Google Shape;16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48012" y="3814762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10275" y="3814762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72537" y="3814762"/>
            <a:ext cx="17145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7"/>
          <p:cNvSpPr txBox="1"/>
          <p:nvPr/>
        </p:nvSpPr>
        <p:spPr>
          <a:xfrm>
            <a:off x="609600" y="457200"/>
            <a:ext cx="110680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Bloco 02 — Aprendizado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609600" y="695325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Ciclo do Algoritmo de Backpropagation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838200" y="3390900"/>
            <a:ext cx="2024062" cy="1038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PASSO 01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3700462" y="3300412"/>
            <a:ext cx="2024062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PASSO 02</a:t>
            </a:r>
            <a:endParaRPr/>
          </a:p>
        </p:txBody>
      </p:sp>
      <p:sp>
        <p:nvSpPr>
          <p:cNvPr id="169" name="Google Shape;169;p17"/>
          <p:cNvSpPr txBox="1"/>
          <p:nvPr/>
        </p:nvSpPr>
        <p:spPr>
          <a:xfrm>
            <a:off x="6562725" y="3300412"/>
            <a:ext cx="2024062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PASSO 03</a:t>
            </a:r>
            <a:endParaRPr/>
          </a:p>
        </p:txBody>
      </p:sp>
      <p:sp>
        <p:nvSpPr>
          <p:cNvPr id="170" name="Google Shape;170;p17"/>
          <p:cNvSpPr txBox="1"/>
          <p:nvPr/>
        </p:nvSpPr>
        <p:spPr>
          <a:xfrm>
            <a:off x="9424987" y="3300412"/>
            <a:ext cx="2024062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PASSO 04</a:t>
            </a:r>
            <a:endParaRPr/>
          </a:p>
        </p:txBody>
      </p:sp>
      <p:sp>
        <p:nvSpPr>
          <p:cNvPr id="171" name="Google Shape;171;p17"/>
          <p:cNvSpPr txBox="1"/>
          <p:nvPr/>
        </p:nvSpPr>
        <p:spPr>
          <a:xfrm>
            <a:off x="847725" y="3762375"/>
            <a:ext cx="250656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Forward Pass</a:t>
            </a:r>
            <a:endParaRPr/>
          </a:p>
        </p:txBody>
      </p:sp>
      <p:sp>
        <p:nvSpPr>
          <p:cNvPr id="172" name="Google Shape;172;p17"/>
          <p:cNvSpPr txBox="1"/>
          <p:nvPr/>
        </p:nvSpPr>
        <p:spPr>
          <a:xfrm>
            <a:off x="847725" y="4057650"/>
            <a:ext cx="2005012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Propagação dos dados de entrada até a previsão final.</a:t>
            </a:r>
            <a:endParaRPr/>
          </a:p>
        </p:txBody>
      </p:sp>
      <p:sp>
        <p:nvSpPr>
          <p:cNvPr id="173" name="Google Shape;173;p17"/>
          <p:cNvSpPr txBox="1"/>
          <p:nvPr/>
        </p:nvSpPr>
        <p:spPr>
          <a:xfrm>
            <a:off x="3709987" y="3671887"/>
            <a:ext cx="250656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Cálculo da Perda</a:t>
            </a:r>
            <a:endParaRPr/>
          </a:p>
        </p:txBody>
      </p:sp>
      <p:sp>
        <p:nvSpPr>
          <p:cNvPr id="174" name="Google Shape;174;p17"/>
          <p:cNvSpPr txBox="1"/>
          <p:nvPr/>
        </p:nvSpPr>
        <p:spPr>
          <a:xfrm>
            <a:off x="3709987" y="3967162"/>
            <a:ext cx="2005012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Medição do erro via Loss Function (MSE ou Cross-Entropy).</a:t>
            </a:r>
            <a:endParaRPr/>
          </a:p>
        </p:txBody>
      </p:sp>
      <p:sp>
        <p:nvSpPr>
          <p:cNvPr id="175" name="Google Shape;175;p17"/>
          <p:cNvSpPr txBox="1"/>
          <p:nvPr/>
        </p:nvSpPr>
        <p:spPr>
          <a:xfrm>
            <a:off x="6572250" y="3671887"/>
            <a:ext cx="250656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Backward Pass</a:t>
            </a:r>
            <a:endParaRPr/>
          </a:p>
        </p:txBody>
      </p:sp>
      <p:sp>
        <p:nvSpPr>
          <p:cNvPr id="176" name="Google Shape;176;p17"/>
          <p:cNvSpPr txBox="1"/>
          <p:nvPr/>
        </p:nvSpPr>
        <p:spPr>
          <a:xfrm>
            <a:off x="6572250" y="3967162"/>
            <a:ext cx="2005012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Cálculo de gradientes via Regra da Cadeia em sentido inverso.</a:t>
            </a:r>
            <a:endParaRPr/>
          </a:p>
        </p:txBody>
      </p:sp>
      <p:sp>
        <p:nvSpPr>
          <p:cNvPr id="177" name="Google Shape;177;p17"/>
          <p:cNvSpPr txBox="1"/>
          <p:nvPr/>
        </p:nvSpPr>
        <p:spPr>
          <a:xfrm>
            <a:off x="9434512" y="3671887"/>
            <a:ext cx="250656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Atualização</a:t>
            </a:r>
            <a:endParaRPr/>
          </a:p>
        </p:txBody>
      </p:sp>
      <p:sp>
        <p:nvSpPr>
          <p:cNvPr id="178" name="Google Shape;178;p17"/>
          <p:cNvSpPr txBox="1"/>
          <p:nvPr/>
        </p:nvSpPr>
        <p:spPr>
          <a:xfrm>
            <a:off x="9434512" y="3967162"/>
            <a:ext cx="2005012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Otimizadores ajustam os pesos para minimizar o erro acumulado.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8"/>
          <p:cNvSpPr/>
          <p:nvPr/>
        </p:nvSpPr>
        <p:spPr>
          <a:xfrm>
            <a:off x="6334125" y="4395787"/>
            <a:ext cx="5248275" cy="685800"/>
          </a:xfrm>
          <a:prstGeom prst="roundRect">
            <a:avLst>
              <a:gd fmla="val 11111" name="adj"/>
            </a:avLst>
          </a:prstGeom>
          <a:solidFill>
            <a:srgbClr val="EFF6FF"/>
          </a:solidFill>
          <a:ln cap="flat" cmpd="sng" w="9525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84" name="Google Shape;18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2138362"/>
            <a:ext cx="5267325" cy="3429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5" name="Google Shape;185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9125" y="2147887"/>
            <a:ext cx="5248275" cy="340995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8"/>
          <p:cNvSpPr txBox="1"/>
          <p:nvPr/>
        </p:nvSpPr>
        <p:spPr>
          <a:xfrm>
            <a:off x="609600" y="457200"/>
            <a:ext cx="110680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Bloco 03 — Deep Learning Espacial</a:t>
            </a:r>
            <a:endParaRPr/>
          </a:p>
        </p:txBody>
      </p:sp>
      <p:sp>
        <p:nvSpPr>
          <p:cNvPr id="187" name="Google Shape;187;p18"/>
          <p:cNvSpPr txBox="1"/>
          <p:nvPr/>
        </p:nvSpPr>
        <p:spPr>
          <a:xfrm>
            <a:off x="609600" y="695325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Redes Convolucionais (CNNs)</a:t>
            </a:r>
            <a:endParaRPr/>
          </a:p>
        </p:txBody>
      </p:sp>
      <p:sp>
        <p:nvSpPr>
          <p:cNvPr id="188" name="Google Shape;188;p18"/>
          <p:cNvSpPr txBox="1"/>
          <p:nvPr/>
        </p:nvSpPr>
        <p:spPr>
          <a:xfrm>
            <a:off x="6334125" y="2624137"/>
            <a:ext cx="5343525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Camadas Convolucionais: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Aplicação de filtros para extração automática de bordas e texturas.</a:t>
            </a:r>
            <a:endParaRPr/>
          </a:p>
        </p:txBody>
      </p:sp>
      <p:sp>
        <p:nvSpPr>
          <p:cNvPr id="189" name="Google Shape;189;p18"/>
          <p:cNvSpPr txBox="1"/>
          <p:nvPr/>
        </p:nvSpPr>
        <p:spPr>
          <a:xfrm>
            <a:off x="6334125" y="3214687"/>
            <a:ext cx="5343525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Pooling (Max/Average):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Redução da dimensionalidade espacial e invariância a rotações.</a:t>
            </a:r>
            <a:endParaRPr/>
          </a:p>
        </p:txBody>
      </p:sp>
      <p:sp>
        <p:nvSpPr>
          <p:cNvPr id="190" name="Google Shape;190;p18"/>
          <p:cNvSpPr txBox="1"/>
          <p:nvPr/>
        </p:nvSpPr>
        <p:spPr>
          <a:xfrm>
            <a:off x="6334125" y="3805237"/>
            <a:ext cx="5343525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Camadas Fully Connected: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Classificação final a partir das mapas de atributos extraídos.</a:t>
            </a:r>
            <a:endParaRPr/>
          </a:p>
        </p:txBody>
      </p:sp>
      <p:sp>
        <p:nvSpPr>
          <p:cNvPr id="191" name="Google Shape;191;p18"/>
          <p:cNvSpPr txBox="1"/>
          <p:nvPr/>
        </p:nvSpPr>
        <p:spPr>
          <a:xfrm>
            <a:off x="6496050" y="4557712"/>
            <a:ext cx="501967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1E40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Aplicações Principais:</a:t>
            </a:r>
            <a:r>
              <a:rPr b="0" i="0" lang="en-US" sz="1125" u="none" cap="none" strike="noStrike">
                <a:solidFill>
                  <a:srgbClr val="1E40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Visão computacional, detecção de objetos e médica.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6" name="Google Shape;19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15075" y="2233612"/>
            <a:ext cx="5267325" cy="3238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7" name="Google Shape;19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24600" y="2243137"/>
            <a:ext cx="5248275" cy="321945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9"/>
          <p:cNvSpPr txBox="1"/>
          <p:nvPr/>
        </p:nvSpPr>
        <p:spPr>
          <a:xfrm>
            <a:off x="609600" y="457200"/>
            <a:ext cx="110680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Bloco 03 — Processamento Sequencial</a:t>
            </a:r>
            <a:endParaRPr/>
          </a:p>
        </p:txBody>
      </p:sp>
      <p:sp>
        <p:nvSpPr>
          <p:cNvPr id="199" name="Google Shape;199;p19"/>
          <p:cNvSpPr txBox="1"/>
          <p:nvPr/>
        </p:nvSpPr>
        <p:spPr>
          <a:xfrm>
            <a:off x="609600" y="695325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RNNs e Arquiteturas LSTM</a:t>
            </a:r>
            <a:endParaRPr/>
          </a:p>
        </p:txBody>
      </p:sp>
      <p:sp>
        <p:nvSpPr>
          <p:cNvPr id="200" name="Google Shape;200;p19"/>
          <p:cNvSpPr txBox="1"/>
          <p:nvPr/>
        </p:nvSpPr>
        <p:spPr>
          <a:xfrm>
            <a:off x="609600" y="3043237"/>
            <a:ext cx="688836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 Desafio da Memória Curta</a:t>
            </a:r>
            <a:endParaRPr/>
          </a:p>
        </p:txBody>
      </p:sp>
      <p:sp>
        <p:nvSpPr>
          <p:cNvPr id="201" name="Google Shape;201;p19"/>
          <p:cNvSpPr txBox="1"/>
          <p:nvPr/>
        </p:nvSpPr>
        <p:spPr>
          <a:xfrm>
            <a:off x="609600" y="3357562"/>
            <a:ext cx="534352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RNNs tradicionais sofrem com o problema do </a:t>
            </a:r>
            <a:r>
              <a:rPr b="1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Gradiente Desvanecente (Vanishing Gradient)</a:t>
            </a: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em sequências longas.</a:t>
            </a:r>
            <a:endParaRPr/>
          </a:p>
        </p:txBody>
      </p:sp>
      <p:sp>
        <p:nvSpPr>
          <p:cNvPr id="202" name="Google Shape;202;p19"/>
          <p:cNvSpPr txBox="1"/>
          <p:nvPr/>
        </p:nvSpPr>
        <p:spPr>
          <a:xfrm>
            <a:off x="609600" y="3948112"/>
            <a:ext cx="688836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 Solução LSTM (Long Short-Term Memory)</a:t>
            </a:r>
            <a:endParaRPr/>
          </a:p>
        </p:txBody>
      </p:sp>
      <p:sp>
        <p:nvSpPr>
          <p:cNvPr id="203" name="Google Shape;203;p19"/>
          <p:cNvSpPr txBox="1"/>
          <p:nvPr/>
        </p:nvSpPr>
        <p:spPr>
          <a:xfrm>
            <a:off x="609600" y="4262437"/>
            <a:ext cx="534352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Uso de portas internas (Forget, Input e Output Gates) para manter estados de memória de longo prazo.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0"/>
          <p:cNvSpPr txBox="1"/>
          <p:nvPr/>
        </p:nvSpPr>
        <p:spPr>
          <a:xfrm>
            <a:off x="609600" y="457200"/>
            <a:ext cx="110682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Bloco 03 — Processamento Sequencial</a:t>
            </a:r>
            <a:endParaRPr/>
          </a:p>
        </p:txBody>
      </p:sp>
      <p:sp>
        <p:nvSpPr>
          <p:cNvPr id="209" name="Google Shape;209;p20"/>
          <p:cNvSpPr txBox="1"/>
          <p:nvPr/>
        </p:nvSpPr>
        <p:spPr>
          <a:xfrm>
            <a:off x="609600" y="695325"/>
            <a:ext cx="11582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Métrica boa é métrica alinhada ao erro</a:t>
            </a:r>
            <a:endParaRPr b="1" sz="240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10" name="Google Shape;210;p20"/>
          <p:cNvSpPr txBox="1"/>
          <p:nvPr/>
        </p:nvSpPr>
        <p:spPr>
          <a:xfrm>
            <a:off x="153325" y="1238250"/>
            <a:ext cx="11860800" cy="2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Accuracy sozinha pode ocultar falhas graves — especialmente quando as classes são desbalanceadas.</a:t>
            </a:r>
            <a:endParaRPr sz="1599">
              <a:solidFill>
                <a:schemeClr val="dk1"/>
              </a:solidFill>
            </a:endParaRPr>
          </a:p>
        </p:txBody>
      </p:sp>
      <p:sp>
        <p:nvSpPr>
          <p:cNvPr id="211" name="Google Shape;211;p20"/>
          <p:cNvSpPr txBox="1"/>
          <p:nvPr/>
        </p:nvSpPr>
        <p:spPr>
          <a:xfrm>
            <a:off x="412471" y="1866167"/>
            <a:ext cx="4784100" cy="2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MATRIZ DE CONFUSÃO</a:t>
            </a:r>
            <a:endParaRPr sz="1599">
              <a:solidFill>
                <a:schemeClr val="dk1"/>
              </a:solidFill>
            </a:endParaRPr>
          </a:p>
        </p:txBody>
      </p:sp>
      <p:sp>
        <p:nvSpPr>
          <p:cNvPr id="212" name="Google Shape;212;p20"/>
          <p:cNvSpPr txBox="1"/>
          <p:nvPr/>
        </p:nvSpPr>
        <p:spPr>
          <a:xfrm>
            <a:off x="1558695" y="2274810"/>
            <a:ext cx="1544700" cy="1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6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Predito positivo</a:t>
            </a:r>
            <a:endParaRPr sz="1599">
              <a:solidFill>
                <a:schemeClr val="dk1"/>
              </a:solidFill>
            </a:endParaRPr>
          </a:p>
        </p:txBody>
      </p:sp>
      <p:sp>
        <p:nvSpPr>
          <p:cNvPr id="213" name="Google Shape;213;p20"/>
          <p:cNvSpPr txBox="1"/>
          <p:nvPr/>
        </p:nvSpPr>
        <p:spPr>
          <a:xfrm>
            <a:off x="3223213" y="2274810"/>
            <a:ext cx="1544700" cy="1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6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Predito negativo</a:t>
            </a:r>
            <a:endParaRPr sz="1599">
              <a:solidFill>
                <a:schemeClr val="dk1"/>
              </a:solidFill>
            </a:endParaRPr>
          </a:p>
        </p:txBody>
      </p:sp>
      <p:sp>
        <p:nvSpPr>
          <p:cNvPr id="214" name="Google Shape;214;p20"/>
          <p:cNvSpPr txBox="1"/>
          <p:nvPr/>
        </p:nvSpPr>
        <p:spPr>
          <a:xfrm>
            <a:off x="432406" y="2892761"/>
            <a:ext cx="996600" cy="1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6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Real positivo</a:t>
            </a:r>
            <a:endParaRPr sz="1599">
              <a:solidFill>
                <a:schemeClr val="dk1"/>
              </a:solidFill>
            </a:endParaRPr>
          </a:p>
        </p:txBody>
      </p:sp>
      <p:sp>
        <p:nvSpPr>
          <p:cNvPr id="215" name="Google Shape;215;p20"/>
          <p:cNvSpPr txBox="1"/>
          <p:nvPr/>
        </p:nvSpPr>
        <p:spPr>
          <a:xfrm>
            <a:off x="432406" y="4038959"/>
            <a:ext cx="996600" cy="1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6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Real negativo</a:t>
            </a:r>
            <a:endParaRPr sz="1599">
              <a:solidFill>
                <a:schemeClr val="dk1"/>
              </a:solidFill>
            </a:endParaRPr>
          </a:p>
        </p:txBody>
      </p:sp>
      <p:sp>
        <p:nvSpPr>
          <p:cNvPr id="216" name="Google Shape;216;p20"/>
          <p:cNvSpPr/>
          <p:nvPr/>
        </p:nvSpPr>
        <p:spPr>
          <a:xfrm>
            <a:off x="1558695" y="2663522"/>
            <a:ext cx="1474800" cy="927000"/>
          </a:xfrm>
          <a:prstGeom prst="roundRect">
            <a:avLst>
              <a:gd fmla="val 16667" name="adj"/>
            </a:avLst>
          </a:prstGeom>
          <a:solidFill>
            <a:srgbClr val="8FE3A5"/>
          </a:solidFill>
          <a:ln>
            <a:noFill/>
          </a:ln>
          <a:effectLst>
            <a:outerShdw blurRad="58133" rotWithShape="0" dir="5400000" dist="33427">
              <a:srgbClr val="000000">
                <a:alpha val="34900"/>
              </a:srgbClr>
            </a:outerShdw>
          </a:effectLst>
        </p:spPr>
        <p:txBody>
          <a:bodyPr anchorCtr="0" anchor="ctr" bIns="49800" lIns="99675" spcFirstLastPara="1" rIns="99675" wrap="square" tIns="49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3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0"/>
          <p:cNvSpPr txBox="1"/>
          <p:nvPr/>
        </p:nvSpPr>
        <p:spPr>
          <a:xfrm>
            <a:off x="1558695" y="2663522"/>
            <a:ext cx="14748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7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TP</a:t>
            </a:r>
            <a:endParaRPr sz="1599">
              <a:solidFill>
                <a:schemeClr val="dk1"/>
              </a:solidFill>
            </a:endParaRPr>
          </a:p>
        </p:txBody>
      </p:sp>
      <p:sp>
        <p:nvSpPr>
          <p:cNvPr id="218" name="Google Shape;218;p20"/>
          <p:cNvSpPr/>
          <p:nvPr/>
        </p:nvSpPr>
        <p:spPr>
          <a:xfrm>
            <a:off x="3223213" y="2663522"/>
            <a:ext cx="1474800" cy="927000"/>
          </a:xfrm>
          <a:prstGeom prst="roundRect">
            <a:avLst>
              <a:gd fmla="val 16667" name="adj"/>
            </a:avLst>
          </a:prstGeom>
          <a:solidFill>
            <a:srgbClr val="FF6F91"/>
          </a:solidFill>
          <a:ln>
            <a:noFill/>
          </a:ln>
          <a:effectLst>
            <a:outerShdw blurRad="58133" rotWithShape="0" dir="5400000" dist="33427">
              <a:srgbClr val="000000">
                <a:alpha val="34900"/>
              </a:srgbClr>
            </a:outerShdw>
          </a:effectLst>
        </p:spPr>
        <p:txBody>
          <a:bodyPr anchorCtr="0" anchor="ctr" bIns="49800" lIns="99675" spcFirstLastPara="1" rIns="99675" wrap="square" tIns="49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3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0"/>
          <p:cNvSpPr txBox="1"/>
          <p:nvPr/>
        </p:nvSpPr>
        <p:spPr>
          <a:xfrm>
            <a:off x="3223213" y="2663522"/>
            <a:ext cx="14748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7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FN</a:t>
            </a:r>
            <a:endParaRPr sz="1599">
              <a:solidFill>
                <a:schemeClr val="dk1"/>
              </a:solidFill>
            </a:endParaRPr>
          </a:p>
        </p:txBody>
      </p:sp>
      <p:sp>
        <p:nvSpPr>
          <p:cNvPr id="220" name="Google Shape;220;p20"/>
          <p:cNvSpPr/>
          <p:nvPr/>
        </p:nvSpPr>
        <p:spPr>
          <a:xfrm>
            <a:off x="1558695" y="3809719"/>
            <a:ext cx="1474800" cy="927000"/>
          </a:xfrm>
          <a:prstGeom prst="roundRect">
            <a:avLst>
              <a:gd fmla="val 16667" name="adj"/>
            </a:avLst>
          </a:prstGeom>
          <a:solidFill>
            <a:srgbClr val="FFB454"/>
          </a:solidFill>
          <a:ln>
            <a:noFill/>
          </a:ln>
          <a:effectLst>
            <a:outerShdw blurRad="58133" rotWithShape="0" dir="5400000" dist="33427">
              <a:srgbClr val="000000">
                <a:alpha val="34900"/>
              </a:srgbClr>
            </a:outerShdw>
          </a:effectLst>
        </p:spPr>
        <p:txBody>
          <a:bodyPr anchorCtr="0" anchor="ctr" bIns="49800" lIns="99675" spcFirstLastPara="1" rIns="99675" wrap="square" tIns="49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3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0"/>
          <p:cNvSpPr txBox="1"/>
          <p:nvPr/>
        </p:nvSpPr>
        <p:spPr>
          <a:xfrm>
            <a:off x="1558695" y="3809719"/>
            <a:ext cx="14748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7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FP</a:t>
            </a:r>
            <a:endParaRPr sz="1599">
              <a:solidFill>
                <a:schemeClr val="dk1"/>
              </a:solidFill>
            </a:endParaRPr>
          </a:p>
        </p:txBody>
      </p:sp>
      <p:sp>
        <p:nvSpPr>
          <p:cNvPr id="222" name="Google Shape;222;p20"/>
          <p:cNvSpPr/>
          <p:nvPr/>
        </p:nvSpPr>
        <p:spPr>
          <a:xfrm>
            <a:off x="3223213" y="3809719"/>
            <a:ext cx="1474800" cy="927000"/>
          </a:xfrm>
          <a:prstGeom prst="roundRect">
            <a:avLst>
              <a:gd fmla="val 16667" name="adj"/>
            </a:avLst>
          </a:prstGeom>
          <a:solidFill>
            <a:srgbClr val="5D8BFF"/>
          </a:solidFill>
          <a:ln>
            <a:noFill/>
          </a:ln>
          <a:effectLst>
            <a:outerShdw blurRad="58133" rotWithShape="0" dir="5400000" dist="33427">
              <a:srgbClr val="000000">
                <a:alpha val="34900"/>
              </a:srgbClr>
            </a:outerShdw>
          </a:effectLst>
        </p:spPr>
        <p:txBody>
          <a:bodyPr anchorCtr="0" anchor="ctr" bIns="49800" lIns="99675" spcFirstLastPara="1" rIns="99675" wrap="square" tIns="49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3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0"/>
          <p:cNvSpPr txBox="1"/>
          <p:nvPr/>
        </p:nvSpPr>
        <p:spPr>
          <a:xfrm>
            <a:off x="3223213" y="3809719"/>
            <a:ext cx="14748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7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TN</a:t>
            </a:r>
            <a:endParaRPr sz="1599">
              <a:solidFill>
                <a:schemeClr val="dk1"/>
              </a:solidFill>
            </a:endParaRPr>
          </a:p>
        </p:txBody>
      </p:sp>
      <p:sp>
        <p:nvSpPr>
          <p:cNvPr id="224" name="Google Shape;224;p20"/>
          <p:cNvSpPr txBox="1"/>
          <p:nvPr/>
        </p:nvSpPr>
        <p:spPr>
          <a:xfrm>
            <a:off x="462307" y="5155256"/>
            <a:ext cx="2442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Precision = TP / (TP + FP)</a:t>
            </a:r>
            <a:endParaRPr sz="1599">
              <a:solidFill>
                <a:schemeClr val="dk1"/>
              </a:solidFill>
            </a:endParaRPr>
          </a:p>
        </p:txBody>
      </p:sp>
      <p:sp>
        <p:nvSpPr>
          <p:cNvPr id="225" name="Google Shape;225;p20"/>
          <p:cNvSpPr txBox="1"/>
          <p:nvPr/>
        </p:nvSpPr>
        <p:spPr>
          <a:xfrm>
            <a:off x="3053771" y="5155256"/>
            <a:ext cx="2242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Recall = TP / (TP + FN)</a:t>
            </a:r>
            <a:endParaRPr sz="1599">
              <a:solidFill>
                <a:schemeClr val="dk1"/>
              </a:solidFill>
            </a:endParaRPr>
          </a:p>
        </p:txBody>
      </p:sp>
      <p:sp>
        <p:nvSpPr>
          <p:cNvPr id="226" name="Google Shape;226;p20"/>
          <p:cNvSpPr/>
          <p:nvPr/>
        </p:nvSpPr>
        <p:spPr>
          <a:xfrm>
            <a:off x="5744906" y="1916001"/>
            <a:ext cx="2790600" cy="1395300"/>
          </a:xfrm>
          <a:prstGeom prst="roundRect">
            <a:avLst>
              <a:gd fmla="val 16667" name="adj"/>
            </a:avLst>
          </a:prstGeom>
          <a:solidFill>
            <a:srgbClr val="151F38"/>
          </a:solidFill>
          <a:ln cap="flat" cmpd="sng" w="21225">
            <a:solidFill>
              <a:srgbClr val="2A3855"/>
            </a:solidFill>
            <a:prstDash val="solid"/>
            <a:round/>
            <a:headEnd len="sm" w="sm" type="none"/>
            <a:tailEnd len="sm" w="sm" type="none"/>
          </a:ln>
          <a:effectLst>
            <a:outerShdw blurRad="58133" rotWithShape="0" dir="5400000" dist="33427">
              <a:srgbClr val="000000">
                <a:alpha val="34900"/>
              </a:srgbClr>
            </a:outerShdw>
          </a:effectLst>
        </p:spPr>
        <p:txBody>
          <a:bodyPr anchorCtr="0" anchor="ctr" bIns="49800" lIns="99675" spcFirstLastPara="1" rIns="99675" wrap="square" tIns="49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3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0"/>
          <p:cNvSpPr/>
          <p:nvPr/>
        </p:nvSpPr>
        <p:spPr>
          <a:xfrm>
            <a:off x="5744906" y="2015671"/>
            <a:ext cx="54900" cy="1196100"/>
          </a:xfrm>
          <a:prstGeom prst="rect">
            <a:avLst/>
          </a:prstGeom>
          <a:solidFill>
            <a:srgbClr val="42D6D0"/>
          </a:solidFill>
          <a:ln>
            <a:noFill/>
          </a:ln>
          <a:effectLst>
            <a:outerShdw blurRad="58133" rotWithShape="0" dir="5400000" dist="33427">
              <a:srgbClr val="000000">
                <a:alpha val="34900"/>
              </a:srgbClr>
            </a:outerShdw>
          </a:effectLst>
        </p:spPr>
        <p:txBody>
          <a:bodyPr anchorCtr="0" anchor="ctr" bIns="49800" lIns="99675" spcFirstLastPara="1" rIns="99675" wrap="square" tIns="49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3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0"/>
          <p:cNvSpPr txBox="1"/>
          <p:nvPr/>
        </p:nvSpPr>
        <p:spPr>
          <a:xfrm>
            <a:off x="5944249" y="2065504"/>
            <a:ext cx="24420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19925" lIns="19925" spcFirstLastPara="1" rIns="19925" wrap="square" tIns="199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99" u="none" cap="none" strike="noStrike">
                <a:solidFill>
                  <a:srgbClr val="F4F7FB"/>
                </a:solidFill>
                <a:latin typeface="Arial"/>
                <a:ea typeface="Arial"/>
                <a:cs typeface="Arial"/>
                <a:sym typeface="Arial"/>
              </a:rPr>
              <a:t>CLASSIFICAÇÃO</a:t>
            </a:r>
            <a:endParaRPr sz="1599"/>
          </a:p>
        </p:txBody>
      </p:sp>
      <p:sp>
        <p:nvSpPr>
          <p:cNvPr id="229" name="Google Shape;229;p20"/>
          <p:cNvSpPr txBox="1"/>
          <p:nvPr/>
        </p:nvSpPr>
        <p:spPr>
          <a:xfrm>
            <a:off x="5944249" y="2593753"/>
            <a:ext cx="2412000" cy="64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9925" lIns="19925" spcFirstLastPara="1" rIns="19925" wrap="square" tIns="199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8" u="none" cap="none" strike="noStrike">
                <a:solidFill>
                  <a:srgbClr val="AEBBD0"/>
                </a:solidFill>
                <a:latin typeface="Arial"/>
                <a:ea typeface="Arial"/>
                <a:cs typeface="Arial"/>
                <a:sym typeface="Arial"/>
              </a:rPr>
              <a:t>Precision, recall, F1, ROC-AUC; PR-AUC quando a classe positiva é rara.</a:t>
            </a:r>
            <a:endParaRPr sz="1599"/>
          </a:p>
        </p:txBody>
      </p:sp>
      <p:sp>
        <p:nvSpPr>
          <p:cNvPr id="230" name="Google Shape;230;p20"/>
          <p:cNvSpPr/>
          <p:nvPr/>
        </p:nvSpPr>
        <p:spPr>
          <a:xfrm>
            <a:off x="8834728" y="1916001"/>
            <a:ext cx="2790600" cy="1395300"/>
          </a:xfrm>
          <a:prstGeom prst="roundRect">
            <a:avLst>
              <a:gd fmla="val 16667" name="adj"/>
            </a:avLst>
          </a:prstGeom>
          <a:solidFill>
            <a:srgbClr val="151F38"/>
          </a:solidFill>
          <a:ln cap="flat" cmpd="sng" w="21225">
            <a:solidFill>
              <a:srgbClr val="2A3855"/>
            </a:solidFill>
            <a:prstDash val="solid"/>
            <a:round/>
            <a:headEnd len="sm" w="sm" type="none"/>
            <a:tailEnd len="sm" w="sm" type="none"/>
          </a:ln>
          <a:effectLst>
            <a:outerShdw blurRad="58133" rotWithShape="0" dir="5400000" dist="33427">
              <a:srgbClr val="000000">
                <a:alpha val="34900"/>
              </a:srgbClr>
            </a:outerShdw>
          </a:effectLst>
        </p:spPr>
        <p:txBody>
          <a:bodyPr anchorCtr="0" anchor="ctr" bIns="49800" lIns="99675" spcFirstLastPara="1" rIns="99675" wrap="square" tIns="49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3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0"/>
          <p:cNvSpPr/>
          <p:nvPr/>
        </p:nvSpPr>
        <p:spPr>
          <a:xfrm>
            <a:off x="8834728" y="2015671"/>
            <a:ext cx="54900" cy="1196100"/>
          </a:xfrm>
          <a:prstGeom prst="rect">
            <a:avLst/>
          </a:prstGeom>
          <a:solidFill>
            <a:srgbClr val="B08CFF"/>
          </a:solidFill>
          <a:ln>
            <a:noFill/>
          </a:ln>
          <a:effectLst>
            <a:outerShdw blurRad="58133" rotWithShape="0" dir="5400000" dist="33427">
              <a:srgbClr val="000000">
                <a:alpha val="34900"/>
              </a:srgbClr>
            </a:outerShdw>
          </a:effectLst>
        </p:spPr>
        <p:txBody>
          <a:bodyPr anchorCtr="0" anchor="ctr" bIns="49800" lIns="99675" spcFirstLastPara="1" rIns="99675" wrap="square" tIns="49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3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0"/>
          <p:cNvSpPr txBox="1"/>
          <p:nvPr/>
        </p:nvSpPr>
        <p:spPr>
          <a:xfrm>
            <a:off x="9034070" y="2065504"/>
            <a:ext cx="24420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19925" lIns="19925" spcFirstLastPara="1" rIns="19925" wrap="square" tIns="199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99" u="none" cap="none" strike="noStrike">
                <a:solidFill>
                  <a:srgbClr val="F4F7FB"/>
                </a:solidFill>
                <a:latin typeface="Arial"/>
                <a:ea typeface="Arial"/>
                <a:cs typeface="Arial"/>
                <a:sym typeface="Arial"/>
              </a:rPr>
              <a:t>REGRESSÃO</a:t>
            </a:r>
            <a:endParaRPr sz="1599"/>
          </a:p>
        </p:txBody>
      </p:sp>
      <p:sp>
        <p:nvSpPr>
          <p:cNvPr id="233" name="Google Shape;233;p20"/>
          <p:cNvSpPr txBox="1"/>
          <p:nvPr/>
        </p:nvSpPr>
        <p:spPr>
          <a:xfrm>
            <a:off x="9034070" y="2593753"/>
            <a:ext cx="2412000" cy="64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9925" lIns="19925" spcFirstLastPara="1" rIns="19925" wrap="square" tIns="199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8" u="none" cap="none" strike="noStrike">
                <a:solidFill>
                  <a:srgbClr val="AEBBD0"/>
                </a:solidFill>
                <a:latin typeface="Arial"/>
                <a:ea typeface="Arial"/>
                <a:cs typeface="Arial"/>
                <a:sym typeface="Arial"/>
              </a:rPr>
              <a:t>MAE é interpretável; RMSE penaliza erros grandes; examine resíduos.</a:t>
            </a:r>
            <a:endParaRPr sz="1599"/>
          </a:p>
        </p:txBody>
      </p:sp>
      <p:sp>
        <p:nvSpPr>
          <p:cNvPr id="234" name="Google Shape;234;p20"/>
          <p:cNvSpPr/>
          <p:nvPr/>
        </p:nvSpPr>
        <p:spPr>
          <a:xfrm>
            <a:off x="5744906" y="3560546"/>
            <a:ext cx="2790600" cy="1395300"/>
          </a:xfrm>
          <a:prstGeom prst="roundRect">
            <a:avLst>
              <a:gd fmla="val 16667" name="adj"/>
            </a:avLst>
          </a:prstGeom>
          <a:solidFill>
            <a:srgbClr val="151F38"/>
          </a:solidFill>
          <a:ln cap="flat" cmpd="sng" w="21225">
            <a:solidFill>
              <a:srgbClr val="2A3855"/>
            </a:solidFill>
            <a:prstDash val="solid"/>
            <a:round/>
            <a:headEnd len="sm" w="sm" type="none"/>
            <a:tailEnd len="sm" w="sm" type="none"/>
          </a:ln>
          <a:effectLst>
            <a:outerShdw blurRad="58133" rotWithShape="0" dir="5400000" dist="33427">
              <a:srgbClr val="000000">
                <a:alpha val="34900"/>
              </a:srgbClr>
            </a:outerShdw>
          </a:effectLst>
        </p:spPr>
        <p:txBody>
          <a:bodyPr anchorCtr="0" anchor="ctr" bIns="49800" lIns="99675" spcFirstLastPara="1" rIns="99675" wrap="square" tIns="49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3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0"/>
          <p:cNvSpPr/>
          <p:nvPr/>
        </p:nvSpPr>
        <p:spPr>
          <a:xfrm>
            <a:off x="5744906" y="3660215"/>
            <a:ext cx="54900" cy="1196100"/>
          </a:xfrm>
          <a:prstGeom prst="rect">
            <a:avLst/>
          </a:prstGeom>
          <a:solidFill>
            <a:srgbClr val="FFB454"/>
          </a:solidFill>
          <a:ln>
            <a:noFill/>
          </a:ln>
          <a:effectLst>
            <a:outerShdw blurRad="58133" rotWithShape="0" dir="5400000" dist="33427">
              <a:srgbClr val="000000">
                <a:alpha val="34900"/>
              </a:srgbClr>
            </a:outerShdw>
          </a:effectLst>
        </p:spPr>
        <p:txBody>
          <a:bodyPr anchorCtr="0" anchor="ctr" bIns="49800" lIns="99675" spcFirstLastPara="1" rIns="99675" wrap="square" tIns="49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3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0"/>
          <p:cNvSpPr txBox="1"/>
          <p:nvPr/>
        </p:nvSpPr>
        <p:spPr>
          <a:xfrm>
            <a:off x="5944249" y="3710049"/>
            <a:ext cx="24420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19925" lIns="19925" spcFirstLastPara="1" rIns="19925" wrap="square" tIns="199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99" u="none" cap="none" strike="noStrike">
                <a:solidFill>
                  <a:srgbClr val="F4F7FB"/>
                </a:solidFill>
                <a:latin typeface="Arial"/>
                <a:ea typeface="Arial"/>
                <a:cs typeface="Arial"/>
                <a:sym typeface="Arial"/>
              </a:rPr>
              <a:t>SÉRIES TEMPORAIS</a:t>
            </a:r>
            <a:endParaRPr sz="1599"/>
          </a:p>
        </p:txBody>
      </p:sp>
      <p:sp>
        <p:nvSpPr>
          <p:cNvPr id="237" name="Google Shape;237;p20"/>
          <p:cNvSpPr txBox="1"/>
          <p:nvPr/>
        </p:nvSpPr>
        <p:spPr>
          <a:xfrm>
            <a:off x="5944249" y="4238297"/>
            <a:ext cx="2412000" cy="64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9925" lIns="19925" spcFirstLastPara="1" rIns="19925" wrap="square" tIns="199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8" u="none" cap="none" strike="noStrike">
                <a:solidFill>
                  <a:srgbClr val="AEBBD0"/>
                </a:solidFill>
                <a:latin typeface="Arial"/>
                <a:ea typeface="Arial"/>
                <a:cs typeface="Arial"/>
                <a:sym typeface="Arial"/>
              </a:rPr>
              <a:t>MAE/RMSE por horizonte e comparação com baselines ingênuos.</a:t>
            </a:r>
            <a:endParaRPr sz="1599"/>
          </a:p>
        </p:txBody>
      </p:sp>
      <p:sp>
        <p:nvSpPr>
          <p:cNvPr id="238" name="Google Shape;238;p20"/>
          <p:cNvSpPr/>
          <p:nvPr/>
        </p:nvSpPr>
        <p:spPr>
          <a:xfrm>
            <a:off x="8834728" y="3560546"/>
            <a:ext cx="2790600" cy="1395300"/>
          </a:xfrm>
          <a:prstGeom prst="roundRect">
            <a:avLst>
              <a:gd fmla="val 16667" name="adj"/>
            </a:avLst>
          </a:prstGeom>
          <a:solidFill>
            <a:srgbClr val="151F38"/>
          </a:solidFill>
          <a:ln cap="flat" cmpd="sng" w="21225">
            <a:solidFill>
              <a:srgbClr val="2A3855"/>
            </a:solidFill>
            <a:prstDash val="solid"/>
            <a:round/>
            <a:headEnd len="sm" w="sm" type="none"/>
            <a:tailEnd len="sm" w="sm" type="none"/>
          </a:ln>
          <a:effectLst>
            <a:outerShdw blurRad="58133" rotWithShape="0" dir="5400000" dist="33427">
              <a:srgbClr val="000000">
                <a:alpha val="34900"/>
              </a:srgbClr>
            </a:outerShdw>
          </a:effectLst>
        </p:spPr>
        <p:txBody>
          <a:bodyPr anchorCtr="0" anchor="ctr" bIns="49800" lIns="99675" spcFirstLastPara="1" rIns="99675" wrap="square" tIns="49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3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0"/>
          <p:cNvSpPr/>
          <p:nvPr/>
        </p:nvSpPr>
        <p:spPr>
          <a:xfrm>
            <a:off x="8834728" y="3660215"/>
            <a:ext cx="54900" cy="1196100"/>
          </a:xfrm>
          <a:prstGeom prst="rect">
            <a:avLst/>
          </a:prstGeom>
          <a:solidFill>
            <a:srgbClr val="8FE3A5"/>
          </a:solidFill>
          <a:ln>
            <a:noFill/>
          </a:ln>
          <a:effectLst>
            <a:outerShdw blurRad="58133" rotWithShape="0" dir="5400000" dist="33427">
              <a:srgbClr val="000000">
                <a:alpha val="34900"/>
              </a:srgbClr>
            </a:outerShdw>
          </a:effectLst>
        </p:spPr>
        <p:txBody>
          <a:bodyPr anchorCtr="0" anchor="ctr" bIns="49800" lIns="99675" spcFirstLastPara="1" rIns="99675" wrap="square" tIns="49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3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0"/>
          <p:cNvSpPr txBox="1"/>
          <p:nvPr/>
        </p:nvSpPr>
        <p:spPr>
          <a:xfrm>
            <a:off x="9034070" y="3710049"/>
            <a:ext cx="24420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19925" lIns="19925" spcFirstLastPara="1" rIns="19925" wrap="square" tIns="199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99" u="none" cap="none" strike="noStrike">
                <a:solidFill>
                  <a:srgbClr val="F4F7FB"/>
                </a:solidFill>
                <a:latin typeface="Arial"/>
                <a:ea typeface="Arial"/>
                <a:cs typeface="Arial"/>
                <a:sym typeface="Arial"/>
              </a:rPr>
              <a:t>DECISÃO REAL</a:t>
            </a:r>
            <a:endParaRPr sz="1599"/>
          </a:p>
        </p:txBody>
      </p:sp>
      <p:sp>
        <p:nvSpPr>
          <p:cNvPr id="241" name="Google Shape;241;p20"/>
          <p:cNvSpPr txBox="1"/>
          <p:nvPr/>
        </p:nvSpPr>
        <p:spPr>
          <a:xfrm>
            <a:off x="9034070" y="4238297"/>
            <a:ext cx="2412000" cy="64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9925" lIns="19925" spcFirstLastPara="1" rIns="19925" wrap="square" tIns="199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8" u="none" cap="none" strike="noStrike">
                <a:solidFill>
                  <a:srgbClr val="AEBBD0"/>
                </a:solidFill>
                <a:latin typeface="Arial"/>
                <a:ea typeface="Arial"/>
                <a:cs typeface="Arial"/>
                <a:sym typeface="Arial"/>
              </a:rPr>
              <a:t>Inclua latência, custo, cobertura e impacto dos falsos positivos/negativos.</a:t>
            </a:r>
            <a:endParaRPr sz="1599"/>
          </a:p>
        </p:txBody>
      </p:sp>
      <p:sp>
        <p:nvSpPr>
          <p:cNvPr id="242" name="Google Shape;242;p20"/>
          <p:cNvSpPr txBox="1"/>
          <p:nvPr/>
        </p:nvSpPr>
        <p:spPr>
          <a:xfrm>
            <a:off x="5774808" y="5504099"/>
            <a:ext cx="5780700" cy="5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19925" lIns="19925" spcFirstLastPara="1" rIns="19925" wrap="square" tIns="199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pergunta não é “qual métrica é melhor?”, e sim “qual erro custa mais neste contexto?”</a:t>
            </a:r>
            <a:endParaRPr sz="1599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" name="Google Shape;24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30537" y="1064625"/>
            <a:ext cx="8330928" cy="5713999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1"/>
          <p:cNvSpPr txBox="1"/>
          <p:nvPr/>
        </p:nvSpPr>
        <p:spPr>
          <a:xfrm>
            <a:off x="609600" y="457200"/>
            <a:ext cx="110682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Bloco 03 — Processamento Sequencial</a:t>
            </a:r>
            <a:endParaRPr/>
          </a:p>
        </p:txBody>
      </p:sp>
      <p:sp>
        <p:nvSpPr>
          <p:cNvPr id="249" name="Google Shape;249;p21"/>
          <p:cNvSpPr txBox="1"/>
          <p:nvPr/>
        </p:nvSpPr>
        <p:spPr>
          <a:xfrm>
            <a:off x="609600" y="695325"/>
            <a:ext cx="11582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Bias-Variance Tradeoff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2"/>
          <p:cNvSpPr txBox="1"/>
          <p:nvPr/>
        </p:nvSpPr>
        <p:spPr>
          <a:xfrm>
            <a:off x="609600" y="457200"/>
            <a:ext cx="110682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Bloco 03 — Processamento Sequencial</a:t>
            </a:r>
            <a:endParaRPr/>
          </a:p>
        </p:txBody>
      </p:sp>
      <p:sp>
        <p:nvSpPr>
          <p:cNvPr id="255" name="Google Shape;255;p22"/>
          <p:cNvSpPr txBox="1"/>
          <p:nvPr/>
        </p:nvSpPr>
        <p:spPr>
          <a:xfrm>
            <a:off x="609600" y="695325"/>
            <a:ext cx="11582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Regularização é controle de complexidade</a:t>
            </a:r>
            <a:endParaRPr b="1" sz="240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56" name="Google Shape;256;p22"/>
          <p:cNvSpPr/>
          <p:nvPr/>
        </p:nvSpPr>
        <p:spPr>
          <a:xfrm>
            <a:off x="582952" y="1337296"/>
            <a:ext cx="5376600" cy="1351200"/>
          </a:xfrm>
          <a:prstGeom prst="roundRect">
            <a:avLst>
              <a:gd fmla="val 16667" name="adj"/>
            </a:avLst>
          </a:prstGeom>
          <a:solidFill>
            <a:srgbClr val="151F38"/>
          </a:solidFill>
          <a:ln cap="flat" cmpd="sng" w="20250">
            <a:solidFill>
              <a:srgbClr val="2A3855"/>
            </a:solidFill>
            <a:prstDash val="solid"/>
            <a:round/>
            <a:headEnd len="sm" w="sm" type="none"/>
            <a:tailEnd len="sm" w="sm" type="none"/>
          </a:ln>
          <a:effectLst>
            <a:outerShdw blurRad="55505" rotWithShape="0" dir="5400000" dist="31915">
              <a:srgbClr val="000000">
                <a:alpha val="34900"/>
              </a:srgbClr>
            </a:outerShdw>
          </a:effectLst>
        </p:spPr>
        <p:txBody>
          <a:bodyPr anchorCtr="0" anchor="ctr" bIns="47550" lIns="95150" spcFirstLastPara="1" rIns="95150" wrap="square" tIns="47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4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2"/>
          <p:cNvSpPr txBox="1"/>
          <p:nvPr/>
        </p:nvSpPr>
        <p:spPr>
          <a:xfrm>
            <a:off x="773282" y="1480040"/>
            <a:ext cx="5043600" cy="3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00" lIns="19000" spcFirstLastPara="1" rIns="19000" wrap="square" tIns="19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43" u="none" cap="none" strike="noStrike">
                <a:solidFill>
                  <a:srgbClr val="F4F7FB"/>
                </a:solidFill>
                <a:latin typeface="Arial"/>
                <a:ea typeface="Arial"/>
                <a:cs typeface="Arial"/>
                <a:sym typeface="Arial"/>
              </a:rPr>
              <a:t>L1 / L2</a:t>
            </a:r>
            <a:endParaRPr sz="1526"/>
          </a:p>
        </p:txBody>
      </p:sp>
      <p:sp>
        <p:nvSpPr>
          <p:cNvPr id="258" name="Google Shape;258;p22"/>
          <p:cNvSpPr txBox="1"/>
          <p:nvPr/>
        </p:nvSpPr>
        <p:spPr>
          <a:xfrm>
            <a:off x="773282" y="1984402"/>
            <a:ext cx="5015400" cy="4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00" lIns="19000" spcFirstLastPara="1" rIns="19000" wrap="square" tIns="19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88" u="none" cap="none" strike="noStrike">
                <a:solidFill>
                  <a:srgbClr val="AEBBD0"/>
                </a:solidFill>
                <a:latin typeface="Arial"/>
                <a:ea typeface="Arial"/>
                <a:cs typeface="Arial"/>
                <a:sym typeface="Arial"/>
              </a:rPr>
              <a:t>Penalizam magnitudes dos pesos; podem reduzir soluções excessivamente complexas.</a:t>
            </a:r>
            <a:endParaRPr sz="1526"/>
          </a:p>
        </p:txBody>
      </p:sp>
      <p:sp>
        <p:nvSpPr>
          <p:cNvPr id="259" name="Google Shape;259;p22"/>
          <p:cNvSpPr/>
          <p:nvPr/>
        </p:nvSpPr>
        <p:spPr>
          <a:xfrm>
            <a:off x="6435603" y="1337296"/>
            <a:ext cx="5376600" cy="1351200"/>
          </a:xfrm>
          <a:prstGeom prst="roundRect">
            <a:avLst>
              <a:gd fmla="val 16667" name="adj"/>
            </a:avLst>
          </a:prstGeom>
          <a:solidFill>
            <a:srgbClr val="151F38"/>
          </a:solidFill>
          <a:ln cap="flat" cmpd="sng" w="20250">
            <a:solidFill>
              <a:srgbClr val="2A3855"/>
            </a:solidFill>
            <a:prstDash val="solid"/>
            <a:round/>
            <a:headEnd len="sm" w="sm" type="none"/>
            <a:tailEnd len="sm" w="sm" type="none"/>
          </a:ln>
          <a:effectLst>
            <a:outerShdw blurRad="55505" rotWithShape="0" dir="5400000" dist="31915">
              <a:srgbClr val="000000">
                <a:alpha val="34900"/>
              </a:srgbClr>
            </a:outerShdw>
          </a:effectLst>
        </p:spPr>
        <p:txBody>
          <a:bodyPr anchorCtr="0" anchor="ctr" bIns="47550" lIns="95150" spcFirstLastPara="1" rIns="95150" wrap="square" tIns="47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4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2"/>
          <p:cNvSpPr/>
          <p:nvPr/>
        </p:nvSpPr>
        <p:spPr>
          <a:xfrm>
            <a:off x="6435603" y="1432458"/>
            <a:ext cx="52500" cy="1161000"/>
          </a:xfrm>
          <a:prstGeom prst="rect">
            <a:avLst/>
          </a:prstGeom>
          <a:solidFill>
            <a:srgbClr val="5D8BFF"/>
          </a:solidFill>
          <a:ln>
            <a:noFill/>
          </a:ln>
          <a:effectLst>
            <a:outerShdw blurRad="55505" rotWithShape="0" dir="5400000" dist="31915">
              <a:srgbClr val="000000">
                <a:alpha val="34900"/>
              </a:srgbClr>
            </a:outerShdw>
          </a:effectLst>
        </p:spPr>
        <p:txBody>
          <a:bodyPr anchorCtr="0" anchor="ctr" bIns="47550" lIns="95150" spcFirstLastPara="1" rIns="95150" wrap="square" tIns="47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4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2"/>
          <p:cNvSpPr txBox="1"/>
          <p:nvPr/>
        </p:nvSpPr>
        <p:spPr>
          <a:xfrm>
            <a:off x="6625933" y="1480040"/>
            <a:ext cx="5043600" cy="3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00" lIns="19000" spcFirstLastPara="1" rIns="19000" wrap="square" tIns="19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43" u="none" cap="none" strike="noStrike">
                <a:solidFill>
                  <a:srgbClr val="F4F7FB"/>
                </a:solidFill>
                <a:latin typeface="Arial"/>
                <a:ea typeface="Arial"/>
                <a:cs typeface="Arial"/>
                <a:sym typeface="Arial"/>
              </a:rPr>
              <a:t>Dropout</a:t>
            </a:r>
            <a:endParaRPr sz="1526"/>
          </a:p>
        </p:txBody>
      </p:sp>
      <p:sp>
        <p:nvSpPr>
          <p:cNvPr id="262" name="Google Shape;262;p22"/>
          <p:cNvSpPr txBox="1"/>
          <p:nvPr/>
        </p:nvSpPr>
        <p:spPr>
          <a:xfrm>
            <a:off x="6625933" y="1984402"/>
            <a:ext cx="5015400" cy="4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00" lIns="19000" spcFirstLastPara="1" rIns="19000" wrap="square" tIns="19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88" u="none" cap="none" strike="noStrike">
                <a:solidFill>
                  <a:srgbClr val="AEBBD0"/>
                </a:solidFill>
                <a:latin typeface="Arial"/>
                <a:ea typeface="Arial"/>
                <a:cs typeface="Arial"/>
                <a:sym typeface="Arial"/>
              </a:rPr>
              <a:t>Desativa unidades aleatoriamente durante o treino; reduz coadaptação.</a:t>
            </a:r>
            <a:endParaRPr sz="1526"/>
          </a:p>
        </p:txBody>
      </p:sp>
      <p:sp>
        <p:nvSpPr>
          <p:cNvPr id="263" name="Google Shape;263;p22"/>
          <p:cNvSpPr/>
          <p:nvPr/>
        </p:nvSpPr>
        <p:spPr>
          <a:xfrm>
            <a:off x="582952" y="3002643"/>
            <a:ext cx="5376600" cy="1351200"/>
          </a:xfrm>
          <a:prstGeom prst="roundRect">
            <a:avLst>
              <a:gd fmla="val 16667" name="adj"/>
            </a:avLst>
          </a:prstGeom>
          <a:solidFill>
            <a:srgbClr val="151F38"/>
          </a:solidFill>
          <a:ln cap="flat" cmpd="sng" w="20250">
            <a:solidFill>
              <a:srgbClr val="2A3855"/>
            </a:solidFill>
            <a:prstDash val="solid"/>
            <a:round/>
            <a:headEnd len="sm" w="sm" type="none"/>
            <a:tailEnd len="sm" w="sm" type="none"/>
          </a:ln>
          <a:effectLst>
            <a:outerShdw blurRad="55505" rotWithShape="0" dir="5400000" dist="31915">
              <a:srgbClr val="000000">
                <a:alpha val="34900"/>
              </a:srgbClr>
            </a:outerShdw>
          </a:effectLst>
        </p:spPr>
        <p:txBody>
          <a:bodyPr anchorCtr="0" anchor="ctr" bIns="47550" lIns="95150" spcFirstLastPara="1" rIns="95150" wrap="square" tIns="47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4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2"/>
          <p:cNvSpPr txBox="1"/>
          <p:nvPr/>
        </p:nvSpPr>
        <p:spPr>
          <a:xfrm>
            <a:off x="773282" y="3145387"/>
            <a:ext cx="5043600" cy="3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00" lIns="19000" spcFirstLastPara="1" rIns="19000" wrap="square" tIns="19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43" u="none" cap="none" strike="noStrike">
                <a:solidFill>
                  <a:srgbClr val="F4F7FB"/>
                </a:solidFill>
                <a:latin typeface="Arial"/>
                <a:ea typeface="Arial"/>
                <a:cs typeface="Arial"/>
                <a:sym typeface="Arial"/>
              </a:rPr>
              <a:t>Early stopping</a:t>
            </a:r>
            <a:endParaRPr sz="1526"/>
          </a:p>
        </p:txBody>
      </p:sp>
      <p:sp>
        <p:nvSpPr>
          <p:cNvPr id="265" name="Google Shape;265;p22"/>
          <p:cNvSpPr txBox="1"/>
          <p:nvPr/>
        </p:nvSpPr>
        <p:spPr>
          <a:xfrm>
            <a:off x="773282" y="3649749"/>
            <a:ext cx="5015400" cy="4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00" lIns="19000" spcFirstLastPara="1" rIns="19000" wrap="square" tIns="19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88" u="none" cap="none" strike="noStrike">
                <a:solidFill>
                  <a:srgbClr val="AEBBD0"/>
                </a:solidFill>
                <a:latin typeface="Arial"/>
                <a:ea typeface="Arial"/>
                <a:cs typeface="Arial"/>
                <a:sym typeface="Arial"/>
              </a:rPr>
              <a:t>Interrompe quando a validação deixa de melhorar; restaura o melhor checkpoint.</a:t>
            </a:r>
            <a:endParaRPr sz="1526"/>
          </a:p>
        </p:txBody>
      </p:sp>
      <p:sp>
        <p:nvSpPr>
          <p:cNvPr id="266" name="Google Shape;266;p22"/>
          <p:cNvSpPr/>
          <p:nvPr/>
        </p:nvSpPr>
        <p:spPr>
          <a:xfrm>
            <a:off x="6435603" y="3002643"/>
            <a:ext cx="5376600" cy="1351200"/>
          </a:xfrm>
          <a:prstGeom prst="roundRect">
            <a:avLst>
              <a:gd fmla="val 16667" name="adj"/>
            </a:avLst>
          </a:prstGeom>
          <a:solidFill>
            <a:srgbClr val="151F38"/>
          </a:solidFill>
          <a:ln cap="flat" cmpd="sng" w="20250">
            <a:solidFill>
              <a:srgbClr val="2A3855"/>
            </a:solidFill>
            <a:prstDash val="solid"/>
            <a:round/>
            <a:headEnd len="sm" w="sm" type="none"/>
            <a:tailEnd len="sm" w="sm" type="none"/>
          </a:ln>
          <a:effectLst>
            <a:outerShdw blurRad="55505" rotWithShape="0" dir="5400000" dist="31915">
              <a:srgbClr val="000000">
                <a:alpha val="34900"/>
              </a:srgbClr>
            </a:outerShdw>
          </a:effectLst>
        </p:spPr>
        <p:txBody>
          <a:bodyPr anchorCtr="0" anchor="ctr" bIns="47550" lIns="95150" spcFirstLastPara="1" rIns="95150" wrap="square" tIns="47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4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2"/>
          <p:cNvSpPr/>
          <p:nvPr/>
        </p:nvSpPr>
        <p:spPr>
          <a:xfrm>
            <a:off x="6435603" y="3097806"/>
            <a:ext cx="52500" cy="1161000"/>
          </a:xfrm>
          <a:prstGeom prst="rect">
            <a:avLst/>
          </a:prstGeom>
          <a:solidFill>
            <a:srgbClr val="FFB454"/>
          </a:solidFill>
          <a:ln>
            <a:noFill/>
          </a:ln>
          <a:effectLst>
            <a:outerShdw blurRad="55505" rotWithShape="0" dir="5400000" dist="31915">
              <a:srgbClr val="000000">
                <a:alpha val="34900"/>
              </a:srgbClr>
            </a:outerShdw>
          </a:effectLst>
        </p:spPr>
        <p:txBody>
          <a:bodyPr anchorCtr="0" anchor="ctr" bIns="47550" lIns="95150" spcFirstLastPara="1" rIns="95150" wrap="square" tIns="47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4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2"/>
          <p:cNvSpPr txBox="1"/>
          <p:nvPr/>
        </p:nvSpPr>
        <p:spPr>
          <a:xfrm>
            <a:off x="6625933" y="3145387"/>
            <a:ext cx="5043600" cy="3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00" lIns="19000" spcFirstLastPara="1" rIns="19000" wrap="square" tIns="19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43" u="none" cap="none" strike="noStrike">
                <a:solidFill>
                  <a:srgbClr val="F4F7FB"/>
                </a:solidFill>
                <a:latin typeface="Arial"/>
                <a:ea typeface="Arial"/>
                <a:cs typeface="Arial"/>
                <a:sym typeface="Arial"/>
              </a:rPr>
              <a:t>Data augmentation</a:t>
            </a:r>
            <a:endParaRPr sz="1526"/>
          </a:p>
        </p:txBody>
      </p:sp>
      <p:sp>
        <p:nvSpPr>
          <p:cNvPr id="269" name="Google Shape;269;p22"/>
          <p:cNvSpPr txBox="1"/>
          <p:nvPr/>
        </p:nvSpPr>
        <p:spPr>
          <a:xfrm>
            <a:off x="6625933" y="3649749"/>
            <a:ext cx="5015400" cy="4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00" lIns="19000" spcFirstLastPara="1" rIns="19000" wrap="square" tIns="19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88" u="none" cap="none" strike="noStrike">
                <a:solidFill>
                  <a:srgbClr val="AEBBD0"/>
                </a:solidFill>
                <a:latin typeface="Arial"/>
                <a:ea typeface="Arial"/>
                <a:cs typeface="Arial"/>
                <a:sym typeface="Arial"/>
              </a:rPr>
              <a:t>Cria variações plausíveis dos exemplos, sobretudo em visão computacional.</a:t>
            </a:r>
            <a:endParaRPr sz="1526"/>
          </a:p>
        </p:txBody>
      </p:sp>
      <p:sp>
        <p:nvSpPr>
          <p:cNvPr id="270" name="Google Shape;270;p22"/>
          <p:cNvSpPr/>
          <p:nvPr/>
        </p:nvSpPr>
        <p:spPr>
          <a:xfrm>
            <a:off x="725699" y="4905897"/>
            <a:ext cx="10753500" cy="618600"/>
          </a:xfrm>
          <a:prstGeom prst="roundRect">
            <a:avLst>
              <a:gd fmla="val 16667" name="adj"/>
            </a:avLst>
          </a:prstGeom>
          <a:solidFill>
            <a:srgbClr val="111A30"/>
          </a:solidFill>
          <a:ln cap="flat" cmpd="sng" w="20250">
            <a:solidFill>
              <a:srgbClr val="2A3855"/>
            </a:solidFill>
            <a:prstDash val="solid"/>
            <a:round/>
            <a:headEnd len="sm" w="sm" type="none"/>
            <a:tailEnd len="sm" w="sm" type="none"/>
          </a:ln>
          <a:effectLst>
            <a:outerShdw blurRad="55505" rotWithShape="0" dir="5400000" dist="31915">
              <a:srgbClr val="000000">
                <a:alpha val="34900"/>
              </a:srgbClr>
            </a:outerShdw>
          </a:effectLst>
        </p:spPr>
        <p:txBody>
          <a:bodyPr anchorCtr="0" anchor="ctr" bIns="47550" lIns="95150" spcFirstLastPara="1" rIns="95150" wrap="square" tIns="47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4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2"/>
          <p:cNvSpPr txBox="1"/>
          <p:nvPr/>
        </p:nvSpPr>
        <p:spPr>
          <a:xfrm>
            <a:off x="963612" y="5096222"/>
            <a:ext cx="102777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26" u="none" cap="none" strike="noStrike">
                <a:solidFill>
                  <a:srgbClr val="42D6D0"/>
                </a:solidFill>
                <a:latin typeface="Arial"/>
                <a:ea typeface="Arial"/>
                <a:cs typeface="Arial"/>
                <a:sym typeface="Arial"/>
              </a:rPr>
              <a:t>Diagnóstico → hipótese → intervenção → comparação controlada → registro do resultado</a:t>
            </a:r>
            <a:endParaRPr sz="1526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3"/>
          <p:cNvSpPr txBox="1"/>
          <p:nvPr/>
        </p:nvSpPr>
        <p:spPr>
          <a:xfrm>
            <a:off x="609600" y="457200"/>
            <a:ext cx="110682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Bloco 03 — Processamento Sequencial</a:t>
            </a:r>
            <a:endParaRPr/>
          </a:p>
        </p:txBody>
      </p:sp>
      <p:sp>
        <p:nvSpPr>
          <p:cNvPr id="277" name="Google Shape;277;p23"/>
          <p:cNvSpPr txBox="1"/>
          <p:nvPr/>
        </p:nvSpPr>
        <p:spPr>
          <a:xfrm>
            <a:off x="609600" y="695325"/>
            <a:ext cx="11582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 ciclo de vida de um modelo</a:t>
            </a:r>
            <a:endParaRPr b="1" sz="240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278" name="Google Shape;27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2938" y="1141050"/>
            <a:ext cx="9661526" cy="5434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4"/>
          <p:cNvSpPr txBox="1"/>
          <p:nvPr/>
        </p:nvSpPr>
        <p:spPr>
          <a:xfrm>
            <a:off x="609600" y="457200"/>
            <a:ext cx="110680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Bloco 04 — Computação Evolutiva</a:t>
            </a:r>
            <a:endParaRPr/>
          </a:p>
        </p:txBody>
      </p:sp>
      <p:sp>
        <p:nvSpPr>
          <p:cNvPr id="284" name="Google Shape;284;p24"/>
          <p:cNvSpPr txBox="1"/>
          <p:nvPr/>
        </p:nvSpPr>
        <p:spPr>
          <a:xfrm>
            <a:off x="609600" y="695325"/>
            <a:ext cx="11582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Aprendizado por reforço</a:t>
            </a:r>
            <a:endParaRPr/>
          </a:p>
        </p:txBody>
      </p:sp>
      <p:sp>
        <p:nvSpPr>
          <p:cNvPr id="285" name="Google Shape;285;p24"/>
          <p:cNvSpPr txBox="1"/>
          <p:nvPr/>
        </p:nvSpPr>
        <p:spPr>
          <a:xfrm>
            <a:off x="609600" y="4794250"/>
            <a:ext cx="10995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 aprendizado por reforço é um paradigma de aprendizado de máquina em que um agente autônomo aprende a tomar decisões por meio de interações com um ambiente, buscando maximizar uma recompensa acumulada ao longo do tempo.</a:t>
            </a:r>
            <a:endParaRPr/>
          </a:p>
        </p:txBody>
      </p:sp>
      <p:pic>
        <p:nvPicPr>
          <p:cNvPr id="286" name="Google Shape;28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07871" y="1390650"/>
            <a:ext cx="7671524" cy="281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1" name="Google Shape;291;p25"/>
          <p:cNvGraphicFramePr/>
          <p:nvPr/>
        </p:nvGraphicFramePr>
        <p:xfrm>
          <a:off x="609600" y="258603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{38693866-41E0-49FD-B241-BA1C05C2DEE3}</a:tableStyleId>
              </a:tblPr>
              <a:tblGrid>
                <a:gridCol w="1988650"/>
                <a:gridCol w="2612075"/>
                <a:gridCol w="2948425"/>
                <a:gridCol w="3423650"/>
              </a:tblGrid>
              <a:tr h="51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Paradigma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Tipo de Dado Ideal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Método de Aprendizado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Casos de Uso Típicos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2563E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MLP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Dados Tabulares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Supervisionado (Gradient Descent)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Classificação/Regressão geral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2563E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CNN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Imagens, Matrizes 2D/3D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Filtros de Convolução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Reconhecimento Visual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2563E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RNN / LSTM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Séries Temporais, Texto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Recorrência Temporal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Previsão e Processamento de Linguagem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2563E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Computação evolutiva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Espaços de Busca Complexos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Busca Estocástica Evolutiva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Otimização e Seleção de Atributos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92" name="Google Shape;292;p25"/>
          <p:cNvSpPr txBox="1"/>
          <p:nvPr/>
        </p:nvSpPr>
        <p:spPr>
          <a:xfrm>
            <a:off x="609600" y="457200"/>
            <a:ext cx="110680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Síntese Paradigmática</a:t>
            </a:r>
            <a:endParaRPr/>
          </a:p>
        </p:txBody>
      </p:sp>
      <p:sp>
        <p:nvSpPr>
          <p:cNvPr id="293" name="Google Shape;293;p25"/>
          <p:cNvSpPr txBox="1"/>
          <p:nvPr/>
        </p:nvSpPr>
        <p:spPr>
          <a:xfrm>
            <a:off x="609600" y="695325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Comparativo Entre Abordagens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6"/>
          <p:cNvSpPr txBox="1"/>
          <p:nvPr/>
        </p:nvSpPr>
        <p:spPr>
          <a:xfrm>
            <a:off x="609600" y="457200"/>
            <a:ext cx="110680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Conclusão</a:t>
            </a:r>
            <a:endParaRPr/>
          </a:p>
        </p:txBody>
      </p:sp>
      <p:sp>
        <p:nvSpPr>
          <p:cNvPr id="299" name="Google Shape;299;p26"/>
          <p:cNvSpPr txBox="1"/>
          <p:nvPr/>
        </p:nvSpPr>
        <p:spPr>
          <a:xfrm>
            <a:off x="609600" y="695325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Considerações Finais</a:t>
            </a:r>
            <a:endParaRPr/>
          </a:p>
        </p:txBody>
      </p:sp>
      <p:sp>
        <p:nvSpPr>
          <p:cNvPr id="300" name="Google Shape;300;p26"/>
          <p:cNvSpPr txBox="1"/>
          <p:nvPr/>
        </p:nvSpPr>
        <p:spPr>
          <a:xfrm>
            <a:off x="0" y="3069133"/>
            <a:ext cx="12192000" cy="11197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"Modelos de Aprendizado de Máquina e Algoritmos Genéticos são ferramentas de solução de problemas complexos — o sucesso reside no entendimento correto do espaço do problema."</a:t>
            </a:r>
            <a:endParaRPr/>
          </a:p>
        </p:txBody>
      </p:sp>
      <p:sp>
        <p:nvSpPr>
          <p:cNvPr id="301" name="Google Shape;301;p26"/>
          <p:cNvSpPr txBox="1"/>
          <p:nvPr/>
        </p:nvSpPr>
        <p:spPr>
          <a:xfrm>
            <a:off x="5012531" y="4417516"/>
            <a:ext cx="216693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Prof. Mateus Dalbone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7"/>
          <p:cNvSpPr/>
          <p:nvPr/>
        </p:nvSpPr>
        <p:spPr>
          <a:xfrm>
            <a:off x="4210050" y="3910012"/>
            <a:ext cx="3771900" cy="552450"/>
          </a:xfrm>
          <a:prstGeom prst="roundRect">
            <a:avLst>
              <a:gd fmla="val 13793" name="adj"/>
            </a:avLst>
          </a:prstGeom>
          <a:solidFill>
            <a:srgbClr val="1E293B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7"/>
          <p:cNvSpPr txBox="1"/>
          <p:nvPr/>
        </p:nvSpPr>
        <p:spPr>
          <a:xfrm>
            <a:off x="2651819" y="2395537"/>
            <a:ext cx="688836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Obrigado pelo Período!</a:t>
            </a:r>
            <a:endParaRPr/>
          </a:p>
        </p:txBody>
      </p:sp>
      <p:sp>
        <p:nvSpPr>
          <p:cNvPr id="308" name="Google Shape;308;p27"/>
          <p:cNvSpPr txBox="1"/>
          <p:nvPr/>
        </p:nvSpPr>
        <p:spPr>
          <a:xfrm>
            <a:off x="2524125" y="3128962"/>
            <a:ext cx="71437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Parabéns pelo empenho e dedicação ao longo do curso. Sucesso nas próximas etapas!</a:t>
            </a:r>
            <a:endParaRPr/>
          </a:p>
        </p:txBody>
      </p:sp>
      <p:sp>
        <p:nvSpPr>
          <p:cNvPr id="309" name="Google Shape;309;p27"/>
          <p:cNvSpPr txBox="1"/>
          <p:nvPr/>
        </p:nvSpPr>
        <p:spPr>
          <a:xfrm>
            <a:off x="4131468" y="4071937"/>
            <a:ext cx="392906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8BDF8"/>
                </a:solidFill>
                <a:latin typeface="Space Mono"/>
                <a:ea typeface="Space Mono"/>
                <a:cs typeface="Space Mono"/>
                <a:sym typeface="Space Mono"/>
              </a:rPr>
              <a:t>Dúvidas &amp; Perguntas Finalizadoras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8"/>
          <p:cNvSpPr/>
          <p:nvPr/>
        </p:nvSpPr>
        <p:spPr>
          <a:xfrm>
            <a:off x="571500" y="857250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8"/>
          <p:cNvSpPr/>
          <p:nvPr/>
        </p:nvSpPr>
        <p:spPr>
          <a:xfrm>
            <a:off x="571500" y="1628775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8"/>
          <p:cNvSpPr/>
          <p:nvPr/>
        </p:nvSpPr>
        <p:spPr>
          <a:xfrm>
            <a:off x="571500" y="2400300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8"/>
          <p:cNvSpPr/>
          <p:nvPr/>
        </p:nvSpPr>
        <p:spPr>
          <a:xfrm>
            <a:off x="571500" y="16192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8"/>
          <p:cNvSpPr/>
          <p:nvPr/>
        </p:nvSpPr>
        <p:spPr>
          <a:xfrm>
            <a:off x="571500" y="16192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8"/>
          <p:cNvSpPr/>
          <p:nvPr/>
        </p:nvSpPr>
        <p:spPr>
          <a:xfrm>
            <a:off x="571500" y="23907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8"/>
          <p:cNvSpPr/>
          <p:nvPr/>
        </p:nvSpPr>
        <p:spPr>
          <a:xfrm>
            <a:off x="571500" y="23907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8"/>
          <p:cNvSpPr/>
          <p:nvPr/>
        </p:nvSpPr>
        <p:spPr>
          <a:xfrm>
            <a:off x="571500" y="31623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8"/>
          <p:cNvSpPr/>
          <p:nvPr/>
        </p:nvSpPr>
        <p:spPr>
          <a:xfrm>
            <a:off x="571500" y="31623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23" name="Google Shape;323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000125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4" name="Google Shape;324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771650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5" name="Google Shape;325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543175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6" name="Google Shape;326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31470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28"/>
          <p:cNvSpPr txBox="1"/>
          <p:nvPr/>
        </p:nvSpPr>
        <p:spPr>
          <a:xfrm>
            <a:off x="571500" y="571500"/>
            <a:ext cx="2187773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Image Sources</a:t>
            </a:r>
            <a:endParaRPr/>
          </a:p>
        </p:txBody>
      </p:sp>
      <p:sp>
        <p:nvSpPr>
          <p:cNvPr id="328" name="Google Shape;328;p28"/>
          <p:cNvSpPr txBox="1"/>
          <p:nvPr/>
        </p:nvSpPr>
        <p:spPr>
          <a:xfrm>
            <a:off x="1666875" y="1038225"/>
            <a:ext cx="7834312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https://media.geeksforgeeks.org/wp-content/uploads/20251213151009129404/_neural_network.webp</a:t>
            </a:r>
            <a:endParaRPr/>
          </a:p>
        </p:txBody>
      </p:sp>
      <p:sp>
        <p:nvSpPr>
          <p:cNvPr id="329" name="Google Shape;329;p28"/>
          <p:cNvSpPr txBox="1"/>
          <p:nvPr/>
        </p:nvSpPr>
        <p:spPr>
          <a:xfrm>
            <a:off x="1666875" y="1238250"/>
            <a:ext cx="3012281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Source: www.geeksforgeeks.org</a:t>
            </a:r>
            <a:endParaRPr/>
          </a:p>
        </p:txBody>
      </p:sp>
      <p:sp>
        <p:nvSpPr>
          <p:cNvPr id="330" name="Google Shape;330;p28"/>
          <p:cNvSpPr txBox="1"/>
          <p:nvPr/>
        </p:nvSpPr>
        <p:spPr>
          <a:xfrm>
            <a:off x="1666875" y="1809750"/>
            <a:ext cx="7977187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https://media.geeksforgeeks.org/wp-content/uploads/20260217113409515144/working_of_cnn__.webp</a:t>
            </a:r>
            <a:endParaRPr/>
          </a:p>
        </p:txBody>
      </p:sp>
      <p:sp>
        <p:nvSpPr>
          <p:cNvPr id="331" name="Google Shape;331;p28"/>
          <p:cNvSpPr txBox="1"/>
          <p:nvPr/>
        </p:nvSpPr>
        <p:spPr>
          <a:xfrm>
            <a:off x="1666875" y="2009775"/>
            <a:ext cx="3012281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Source: www.geeksforgeeks.org</a:t>
            </a:r>
            <a:endParaRPr/>
          </a:p>
        </p:txBody>
      </p:sp>
      <p:sp>
        <p:nvSpPr>
          <p:cNvPr id="332" name="Google Shape;332;p28"/>
          <p:cNvSpPr txBox="1"/>
          <p:nvPr/>
        </p:nvSpPr>
        <p:spPr>
          <a:xfrm>
            <a:off x="1666875" y="2581275"/>
            <a:ext cx="6465093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https://colah.github.io/posts/2015-08-Understanding-LSTMs/img/RNN-unrolled.png</a:t>
            </a:r>
            <a:endParaRPr/>
          </a:p>
        </p:txBody>
      </p:sp>
      <p:sp>
        <p:nvSpPr>
          <p:cNvPr id="333" name="Google Shape;333;p28"/>
          <p:cNvSpPr txBox="1"/>
          <p:nvPr/>
        </p:nvSpPr>
        <p:spPr>
          <a:xfrm>
            <a:off x="1666875" y="2781300"/>
            <a:ext cx="2119312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Source: colah.github.io</a:t>
            </a:r>
            <a:endParaRPr/>
          </a:p>
        </p:txBody>
      </p:sp>
      <p:sp>
        <p:nvSpPr>
          <p:cNvPr id="334" name="Google Shape;334;p28"/>
          <p:cNvSpPr txBox="1"/>
          <p:nvPr/>
        </p:nvSpPr>
        <p:spPr>
          <a:xfrm>
            <a:off x="1666875" y="3352800"/>
            <a:ext cx="5012531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https://www.genetic-programming.com/BBB2028flowchartleft.gif</a:t>
            </a:r>
            <a:endParaRPr/>
          </a:p>
        </p:txBody>
      </p:sp>
      <p:sp>
        <p:nvSpPr>
          <p:cNvPr id="335" name="Google Shape;335;p28"/>
          <p:cNvSpPr txBox="1"/>
          <p:nvPr/>
        </p:nvSpPr>
        <p:spPr>
          <a:xfrm>
            <a:off x="1666875" y="3552825"/>
            <a:ext cx="3786187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Source: www.genetic-programming.com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